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E17EC3-5297-4AB5-B754-3F039733C37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3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9564-DACC-F628-ADC9-F0BDC5298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B0173-EDD4-2605-C56A-27B8E7052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C696-AEFD-4FAA-5DED-80F1363A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857A-56F5-7B7D-58E3-BEC805EB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34B5E-5C57-3F7B-DBDA-C43EBB89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8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5ADB-F2EF-6194-55A0-75F4C8CA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8CD5-E2CB-0CE3-8A99-3119870C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5914E-7CFB-6BF9-D815-154E0378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A9B47-6B50-8DEA-5EF0-8AE706C5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1EF17-E528-DAD4-C7F3-2F13C717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90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163B-5374-B03D-DD96-17678789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9D45-CD25-4163-D0EF-02514437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6CCF0-9F52-A665-4436-B4AB9F25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B0A0-1EDD-66FC-1121-9C6897A3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C41B-7C4C-BF07-FEEF-2AF60A37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21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3C77-2CD4-4F99-6DD6-7108CEA0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EC975-FF99-E22C-CD68-294AFE9A3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BC37E-7CFA-8627-4405-FF602E1B3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F52A8-927B-3343-0059-95840EA3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393D-D699-5A0B-DBA5-8EE22835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5EF50-4E13-4727-B7AA-63C2528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99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305C-9D23-25E2-7308-8514C698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AAC95-E556-D4AA-3EC0-F50725D66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F63A3-0E73-CB5E-BB2C-268327798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FEA61-172E-CCF1-E79F-78ABE220F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0A0383-E421-FEC1-D6B6-AFADD9864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F1FCC-6AC6-1DCB-D5AD-62B4A870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6B397-52D2-4988-9B41-82986185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C7A36-CD8C-13F6-63BC-B7B44774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89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7A4D-1CC6-6C4A-82AA-FD85918B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DE925-4C3E-BBA2-5D0B-57B2598A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D1E55-E7A0-8CFF-744C-18E8951A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00358-FCB6-8ABA-9E36-EAFEA8F5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78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EFC9C-0D35-3B8D-F6E8-28386DC1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6E39F-6F37-7E76-4E9C-7EBF1D62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7520F-0440-8A41-39A9-B3125B0E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1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C6C1-100E-404D-6F37-5F10B65A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3A4AC-D0CB-5E98-AC15-595D6AB1A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83A1A-6103-F6C7-BC86-60913C2D5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4E2DB-1E00-55A8-AD52-429FF48D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7767-CEEC-47BC-5234-93647607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1373A-F405-289F-67FE-EA928FEC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9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094B-2DB4-B1FD-5426-776864F1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F701C-04AC-70A5-5670-0727A945D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C4E85-E005-6C50-3F8D-747ACFD22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E813B-5ED4-DFD0-F078-80007B66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90185-EA73-C98F-575E-37E221F7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41B7C-91F5-3B3E-9F74-C8F619A4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0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9C88-EB75-A7C9-4E42-5AA40627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58932-3026-B6DF-248D-5581480B7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C0D4-7891-A0C5-7CAD-71E322E0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02D5-B18C-A53A-CE30-84823B48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B6C0-38C5-C78E-C7B8-0155DAFF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9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A15D1-75B9-F5C1-0DC6-47983488F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88F7D-6446-3BCB-8645-0FEADBD3C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D5607-2687-8064-0340-45222ED8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642CA-A6AC-7281-89A2-7A747B6C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50F75-8401-3FE5-B30A-EB97F328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0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C3846-75D9-AE2F-9424-8C97D5D8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3E80-C553-32D0-72D5-AFBAB58D2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CF1F-7C24-E71A-8EEB-5F45EFE2D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F6AA-24A9-400C-A9C3-1363E31AE3A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0BE62-0AA5-A3D4-3551-DAF059983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DA41-57E9-9A1C-6916-FEFBA17C9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E31AF-1F74-479D-ACA4-E24386AE1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76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37C4-B33D-8A1B-49C2-AC4E56E1D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Customer Retention &amp; Churn Risk Analysis For a Retail European Bank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CFDB8-A32E-9989-7376-D8A950082A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on account information for 10,000 customers at a European bank, including details on their credit score, balance, products, and whether they have churned.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17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1789-ED34-9E2D-5B84-8445BA8F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Problems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1BD64-BE0F-4862-899F-E3E5864B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What attributes are more common among churners than non-churners? Can churn be predicted using the variables in the data?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What do the overall demographics of the bank's customers look like?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Is there a difference between German, French, and Spanish customers in terms of account behavior?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What types of segments exist within the bank's customers?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84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3B23-112D-88EB-B402-5BEAEC6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 and Data Preparation 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FD394F-0189-0FCD-7F7A-3BDBCEDDA7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825625"/>
            <a:ext cx="5181600" cy="160337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D7C79-BDF4-DBA1-EA8F-BAFFE660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49" y="3706812"/>
            <a:ext cx="5181599" cy="257799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FAF9E1B-DAA9-5BD4-67C5-543E7042A61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2428353"/>
            <a:ext cx="5727209" cy="2556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customer data initially explored in Excel</a:t>
            </a: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imported into MySQL for structured analysis</a:t>
            </a: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schema designed to reflect customer demographics &amp; behavior</a:t>
            </a: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data integrity before performing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54034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28FB-1246-1309-FD9B-519A0431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Overall Customer Demographics Based on Gender</a:t>
            </a:r>
            <a:endParaRPr lang="en-IN" b="1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C3EBE1EC-DB9F-DCB8-448E-A60EEF64D0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52" y="1690688"/>
            <a:ext cx="4403027" cy="1527175"/>
          </a:xfrm>
        </p:spPr>
      </p:pic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32F2B223-BB0E-F294-4A35-14056197D9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Business Importance: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Balanced gender distribution means: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No over dependence over a single demographic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Opportunity to design gender-specific financial products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Slight male skew may indicate 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Higher adoption of traditional banking products among men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Potential growth opportunity in female-focused financial inclusion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Business Action 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Should launch women centric products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Tailor marketing messages by gender behavior patterns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090042-D884-DFF2-06AA-DF689B583FAF}"/>
              </a:ext>
            </a:extLst>
          </p:cNvPr>
          <p:cNvSpPr txBox="1"/>
          <p:nvPr/>
        </p:nvSpPr>
        <p:spPr>
          <a:xfrm>
            <a:off x="602983" y="3924300"/>
            <a:ext cx="55692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Insights: </a:t>
            </a:r>
          </a:p>
          <a:p>
            <a:endParaRPr lang="en-IN" sz="1600" b="1" dirty="0"/>
          </a:p>
          <a:p>
            <a:r>
              <a:rPr lang="en-IN" sz="1600" b="1" dirty="0"/>
              <a:t>Male Customers: 5457</a:t>
            </a:r>
          </a:p>
          <a:p>
            <a:endParaRPr lang="en-IN" sz="1600" b="1" dirty="0"/>
          </a:p>
          <a:p>
            <a:r>
              <a:rPr lang="en-IN" sz="1600" b="1" dirty="0"/>
              <a:t>Female Customers: 4543</a:t>
            </a:r>
          </a:p>
          <a:p>
            <a:endParaRPr lang="en-IN" sz="1600" b="1" dirty="0"/>
          </a:p>
          <a:p>
            <a:r>
              <a:rPr lang="en-IN" sz="1600" b="1" dirty="0"/>
              <a:t>Customer base is fairly balanced, with a slight male dominance </a:t>
            </a:r>
          </a:p>
        </p:txBody>
      </p:sp>
    </p:spTree>
    <p:extLst>
      <p:ext uri="{BB962C8B-B14F-4D97-AF65-F5344CB8AC3E}">
        <p14:creationId xmlns:p14="http://schemas.microsoft.com/office/powerpoint/2010/main" val="407888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5163-6874-0E56-DAC6-ABAA7765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Across Countries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44154B-E40B-1FBB-1218-27DA7CE72D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06" y="1825625"/>
            <a:ext cx="3001267" cy="11366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DA0BC-7D7C-F8FE-F96C-68ED4C2399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Indicates market concentration risk</a:t>
            </a:r>
          </a:p>
          <a:p>
            <a:r>
              <a:rPr lang="en-US" sz="1600" dirty="0"/>
              <a:t>Revenue and churn impact will be the highest in France </a:t>
            </a:r>
          </a:p>
          <a:p>
            <a:r>
              <a:rPr lang="en-US" sz="1600" dirty="0"/>
              <a:t>Germany and Spain represent growth or diversification markets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Prioritize retention and churn prevention in France </a:t>
            </a:r>
          </a:p>
          <a:p>
            <a:r>
              <a:rPr lang="en-US" sz="1600" dirty="0"/>
              <a:t>Increase product penetration campaigns in Germany and Spain </a:t>
            </a:r>
          </a:p>
          <a:p>
            <a:r>
              <a:rPr lang="en-US" sz="1600" dirty="0"/>
              <a:t>Compare best practices across countries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C16DD-7E3B-3876-7B09-2E524503B1DD}"/>
              </a:ext>
            </a:extLst>
          </p:cNvPr>
          <p:cNvSpPr txBox="1"/>
          <p:nvPr/>
        </p:nvSpPr>
        <p:spPr>
          <a:xfrm>
            <a:off x="1300006" y="3895726"/>
            <a:ext cx="34187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France: 5014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Germany: 2509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Spain: 2477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France is primary customer market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3993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DE33-9272-7494-777D-22F6347A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based on Avg-Age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EE21E2-FBB9-1318-C2EC-E853D55DF1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947" y="1825625"/>
            <a:ext cx="2676653" cy="13940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BB348-A91C-6078-C387-5385C95A7C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Core customer base is mid-career working professionals </a:t>
            </a:r>
          </a:p>
          <a:p>
            <a:r>
              <a:rPr lang="en-US" sz="1600" dirty="0"/>
              <a:t>These customers typically demand: </a:t>
            </a:r>
          </a:p>
          <a:p>
            <a:pPr lvl="1"/>
            <a:r>
              <a:rPr lang="en-US" sz="1600" dirty="0"/>
              <a:t>Loans</a:t>
            </a:r>
          </a:p>
          <a:p>
            <a:pPr lvl="1"/>
            <a:r>
              <a:rPr lang="en-US" sz="1600" dirty="0"/>
              <a:t>Credit Cards </a:t>
            </a:r>
          </a:p>
          <a:p>
            <a:pPr lvl="1"/>
            <a:r>
              <a:rPr lang="en-US" sz="1600" dirty="0"/>
              <a:t>Investment </a:t>
            </a:r>
          </a:p>
          <a:p>
            <a:pPr lvl="1"/>
            <a:r>
              <a:rPr lang="en-US" sz="1600" dirty="0"/>
              <a:t>Wealth management </a:t>
            </a:r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Promote long term financial products </a:t>
            </a:r>
          </a:p>
          <a:p>
            <a:r>
              <a:rPr lang="en-US" sz="1600" dirty="0"/>
              <a:t>Bundle salary accounts, loans, and investment </a:t>
            </a:r>
          </a:p>
          <a:p>
            <a:r>
              <a:rPr lang="en-US" sz="1600" dirty="0"/>
              <a:t>Design life-cycle based offerings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EA346-D057-6B23-0E42-2495CE65EED6}"/>
              </a:ext>
            </a:extLst>
          </p:cNvPr>
          <p:cNvSpPr txBox="1"/>
          <p:nvPr/>
        </p:nvSpPr>
        <p:spPr>
          <a:xfrm>
            <a:off x="1552447" y="4001294"/>
            <a:ext cx="41331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Germany: 39.8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Spain: 38.9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France: 38.5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age is consistent across countries   </a:t>
            </a:r>
            <a:r>
              <a:rPr lang="en-US" sz="1600" b="1" dirty="0"/>
              <a:t> </a:t>
            </a: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69468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6E89-2C8B-DEC3-1420-0F6AEDBD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across different age bands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63B03F-FE65-154C-E4B4-03413C99F8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67" y="1825625"/>
            <a:ext cx="2895758" cy="152088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7C830-EAAD-C93F-1D51-9A4D49C50B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Bank heavily depends on prime-earning age customers </a:t>
            </a:r>
          </a:p>
          <a:p>
            <a:r>
              <a:rPr lang="en-US" sz="1600" dirty="0"/>
              <a:t>Very small senior population – lower pension and retirement product adoption </a:t>
            </a:r>
          </a:p>
          <a:p>
            <a:r>
              <a:rPr lang="en-US" sz="1600" dirty="0"/>
              <a:t>Younger customers present future lifetime value.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Focus retention efforts on 30-45 group (highest revenue risk )</a:t>
            </a:r>
          </a:p>
          <a:p>
            <a:r>
              <a:rPr lang="en-US" sz="1600" dirty="0"/>
              <a:t>Upsell investments to 45-60 group</a:t>
            </a:r>
          </a:p>
          <a:p>
            <a:r>
              <a:rPr lang="en-US" sz="1600" dirty="0"/>
              <a:t>Attract  &lt;30 customers via digital-first products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6E1FD-2147-EB9A-9F87-420E91F73B9B}"/>
              </a:ext>
            </a:extLst>
          </p:cNvPr>
          <p:cNvSpPr txBox="1"/>
          <p:nvPr/>
        </p:nvSpPr>
        <p:spPr>
          <a:xfrm>
            <a:off x="1571467" y="4124325"/>
            <a:ext cx="24258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30-45: 6248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45-60: 1647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&lt;30: 1641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60+: 464 customers 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6086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C9A2-0B26-1422-5CBC-16DF2262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based on product distribution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13026D-10D8-E724-AF61-7F9DD64A2C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093" y="1825625"/>
            <a:ext cx="3055535" cy="132556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90550-6FB0-4376-4442-4E8F6898DA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Majority of customers hold only 1-2 products </a:t>
            </a:r>
          </a:p>
          <a:p>
            <a:r>
              <a:rPr lang="en-US" sz="1600" dirty="0"/>
              <a:t>Very few customers are deeply engaged </a:t>
            </a:r>
          </a:p>
          <a:p>
            <a:r>
              <a:rPr lang="en-US" sz="1600" dirty="0"/>
              <a:t>Indicates low product penetration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b="1" dirty="0"/>
              <a:t>Business Meaning: </a:t>
            </a:r>
          </a:p>
          <a:p>
            <a:pPr marL="0" indent="0">
              <a:buNone/>
            </a:pPr>
            <a:r>
              <a:rPr lang="en-IN" sz="1600" dirty="0"/>
              <a:t>Customers exist but relationships are shallow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Strong cross-sell opportunities </a:t>
            </a:r>
          </a:p>
          <a:p>
            <a:r>
              <a:rPr lang="en-US" sz="1600" dirty="0"/>
              <a:t>Bundle products instead of selling individually </a:t>
            </a:r>
          </a:p>
          <a:p>
            <a:r>
              <a:rPr lang="en-US" sz="1600" dirty="0"/>
              <a:t>Target single product customers with high balance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253D3-D306-49BF-C757-2284ECC92E74}"/>
              </a:ext>
            </a:extLst>
          </p:cNvPr>
          <p:cNvSpPr txBox="1"/>
          <p:nvPr/>
        </p:nvSpPr>
        <p:spPr>
          <a:xfrm>
            <a:off x="1438093" y="4343400"/>
            <a:ext cx="28553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 product: 5084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 products: 4590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 products: 266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 products: 60 Customers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73331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67F9-492B-01A8-AA07-680D15F8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based on Balance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565D65-DEB8-40C7-EACA-2C4A2F625F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349" y="1825625"/>
            <a:ext cx="2605176" cy="99897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2B70-CBB0-9808-BDB4-D04B318907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Indicates overall monetary value of the customer base </a:t>
            </a:r>
          </a:p>
          <a:p>
            <a:r>
              <a:rPr lang="en-US" sz="1600" dirty="0"/>
              <a:t>Serves as a benchmark for: </a:t>
            </a:r>
          </a:p>
          <a:p>
            <a:pPr lvl="1"/>
            <a:r>
              <a:rPr lang="en-US" sz="1600" dirty="0"/>
              <a:t>High value customer definition </a:t>
            </a:r>
          </a:p>
          <a:p>
            <a:pPr lvl="1"/>
            <a:r>
              <a:rPr lang="en-US" sz="1600" dirty="0"/>
              <a:t>Cross sell targeting </a:t>
            </a:r>
          </a:p>
          <a:p>
            <a:pPr lvl="1"/>
            <a:r>
              <a:rPr lang="en-US" sz="1600" dirty="0"/>
              <a:t>Churn Risk Analysis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Customers above this threshold are premium candidates </a:t>
            </a:r>
          </a:p>
          <a:p>
            <a:r>
              <a:rPr lang="en-US" sz="1600" dirty="0"/>
              <a:t>Customers far below this may be low- value  or high-risk churners </a:t>
            </a:r>
          </a:p>
        </p:txBody>
      </p:sp>
    </p:spTree>
    <p:extLst>
      <p:ext uri="{BB962C8B-B14F-4D97-AF65-F5344CB8AC3E}">
        <p14:creationId xmlns:p14="http://schemas.microsoft.com/office/powerpoint/2010/main" val="74946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538A-8D81-4B61-2330-AAA9D016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Customer Demographics based on Credit Score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39BF28-51AA-E7C7-860D-6FE1DC4423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44" y="1825625"/>
            <a:ext cx="2695656" cy="108268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B549F-6533-2722-F966-F5B5AAE04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94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 :</a:t>
            </a:r>
          </a:p>
          <a:p>
            <a:r>
              <a:rPr lang="en-US" sz="1600" dirty="0"/>
              <a:t>Indicates moderate credit worthiness </a:t>
            </a:r>
          </a:p>
          <a:p>
            <a:r>
              <a:rPr lang="en-US" sz="1600" dirty="0"/>
              <a:t>Majority customers are eligible for:</a:t>
            </a:r>
          </a:p>
          <a:p>
            <a:pPr lvl="1"/>
            <a:r>
              <a:rPr lang="en-US" sz="1600" dirty="0"/>
              <a:t>Credit Cards</a:t>
            </a:r>
          </a:p>
          <a:p>
            <a:pPr lvl="1"/>
            <a:r>
              <a:rPr lang="en-US" sz="1600" dirty="0"/>
              <a:t>Personal Loans</a:t>
            </a:r>
          </a:p>
          <a:p>
            <a:r>
              <a:rPr lang="en-US" sz="1600" dirty="0"/>
              <a:t>But not premium unsecured landing at scale </a:t>
            </a:r>
          </a:p>
          <a:p>
            <a:pPr marL="0" indent="0">
              <a:buNone/>
            </a:pPr>
            <a:r>
              <a:rPr lang="en-US" sz="1600" b="1" dirty="0"/>
              <a:t>Business Action: </a:t>
            </a:r>
          </a:p>
          <a:p>
            <a:r>
              <a:rPr lang="en-US" sz="1600" dirty="0"/>
              <a:t>Credit improvement programs</a:t>
            </a:r>
          </a:p>
          <a:p>
            <a:r>
              <a:rPr lang="en-US" sz="1600" dirty="0"/>
              <a:t>Tiered lending products </a:t>
            </a:r>
          </a:p>
          <a:p>
            <a:r>
              <a:rPr lang="en-US" sz="1600" dirty="0"/>
              <a:t>Risk-based pricing strategies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905F9-0FA2-C973-4BD9-4AF6031C303A}"/>
              </a:ext>
            </a:extLst>
          </p:cNvPr>
          <p:cNvSpPr txBox="1"/>
          <p:nvPr/>
        </p:nvSpPr>
        <p:spPr>
          <a:xfrm>
            <a:off x="1287625" y="5572125"/>
            <a:ext cx="97691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Executive Summary: </a:t>
            </a:r>
            <a:r>
              <a:rPr lang="en-US" sz="1600" dirty="0"/>
              <a:t>The customer base is dominated by mid-career professionals primarily located in France, with </a:t>
            </a:r>
          </a:p>
          <a:p>
            <a:r>
              <a:rPr lang="en-US" sz="1600" dirty="0"/>
              <a:t>moderate balances and credit scores. Most customers hold only one or two products, indicating strong cross-sell </a:t>
            </a:r>
          </a:p>
          <a:p>
            <a:r>
              <a:rPr lang="en-US" sz="1600" dirty="0"/>
              <a:t>potential. These insights help the bank prioritize retention in key markets, design age-specific financial products, </a:t>
            </a:r>
          </a:p>
          <a:p>
            <a:r>
              <a:rPr lang="en-US" sz="1600" dirty="0"/>
              <a:t>and improve product penetration without aggressive customer acquisition.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1046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0D17-49AC-547D-A4FD-298A8683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Churn Overview 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BAC765-4683-EE37-C4CC-53FC02EA14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23" y="1825625"/>
            <a:ext cx="4324954" cy="9461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62651-4B81-02DA-5CF6-5C3A83992A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Meaning: </a:t>
            </a:r>
          </a:p>
          <a:p>
            <a:r>
              <a:rPr lang="en-US" sz="1600" dirty="0"/>
              <a:t>Roughly 1 out of 5 customers leaves the bank</a:t>
            </a:r>
          </a:p>
          <a:p>
            <a:r>
              <a:rPr lang="en-US" sz="1600" dirty="0"/>
              <a:t>This is a material revenue and growth risk, not a minor issue </a:t>
            </a:r>
          </a:p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A 20% churn rate signals customer dissatisfaction or weak engagement</a:t>
            </a:r>
          </a:p>
          <a:p>
            <a:r>
              <a:rPr lang="en-US" sz="1600" dirty="0"/>
              <a:t>Even a 1-2% reduction in churn can significantly  increase profitability due to :</a:t>
            </a:r>
          </a:p>
          <a:p>
            <a:pPr lvl="1"/>
            <a:r>
              <a:rPr lang="en-US" sz="1600" dirty="0"/>
              <a:t>Lower acquisition costs</a:t>
            </a:r>
          </a:p>
          <a:p>
            <a:pPr lvl="1"/>
            <a:r>
              <a:rPr lang="en-US" sz="1600" dirty="0"/>
              <a:t>High lifetime value (LTV)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b="1" dirty="0"/>
              <a:t>Churn reduction should be treated as a top strategic KPI, not just an analytics metric 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1068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B3F8-F886-E9BF-0920-0B8CF6C0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Churn vs Non-Churned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7B1565-72C7-31D2-C0C8-2CDDE84B1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39" y="1825625"/>
            <a:ext cx="4405889" cy="7937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80D40-DC87-0709-43BD-FB94D62B91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 :</a:t>
            </a:r>
          </a:p>
          <a:p>
            <a:r>
              <a:rPr lang="en-US" sz="1600" dirty="0"/>
              <a:t>The retained base is strong, but the churned group is strong enough to analyze the patterns and intervene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Importance :</a:t>
            </a:r>
          </a:p>
          <a:p>
            <a:r>
              <a:rPr lang="en-US" sz="1600" dirty="0"/>
              <a:t>This validates the need for segmentation-based churn prevention rather than blanket policies </a:t>
            </a:r>
          </a:p>
          <a:p>
            <a:r>
              <a:rPr lang="en-US" sz="1600" dirty="0"/>
              <a:t>Retention efforts can focus on specific high-risk segments instead of all customers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2023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B469-A6CB-69C6-7DB5-12DD058C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Churn Overview based on Gender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75E265-9678-078D-2D81-C8AF5CB00F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91" y="1825625"/>
            <a:ext cx="4420217" cy="9842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87C98-88FB-A4A8-D63B-4099D0805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013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 :</a:t>
            </a:r>
          </a:p>
          <a:p>
            <a:r>
              <a:rPr lang="en-US" sz="1600" dirty="0"/>
              <a:t>Female customers churn at a significantly higher rate than male customers.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Importance </a:t>
            </a:r>
            <a:r>
              <a:rPr lang="en-IN" sz="1600" b="1" dirty="0"/>
              <a:t>:</a:t>
            </a:r>
          </a:p>
          <a:p>
            <a:r>
              <a:rPr lang="en-IN" sz="1600" dirty="0"/>
              <a:t>Indicates possible:</a:t>
            </a:r>
            <a:endParaRPr lang="en-US" sz="1600" dirty="0"/>
          </a:p>
          <a:p>
            <a:pPr lvl="1"/>
            <a:r>
              <a:rPr lang="en-IN" sz="1600" dirty="0"/>
              <a:t>Product mismatch</a:t>
            </a:r>
          </a:p>
          <a:p>
            <a:pPr lvl="1"/>
            <a:r>
              <a:rPr lang="en-IN" sz="1600" dirty="0"/>
              <a:t>Service experience gaps</a:t>
            </a:r>
          </a:p>
          <a:p>
            <a:pPr lvl="1"/>
            <a:r>
              <a:rPr lang="en-IN" sz="1600" dirty="0"/>
              <a:t>Communication or engagement issues for female customers </a:t>
            </a:r>
          </a:p>
          <a:p>
            <a:pPr marL="0" indent="0">
              <a:buNone/>
            </a:pPr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F486E-EC27-4318-83EF-77F423E6CF8E}"/>
              </a:ext>
            </a:extLst>
          </p:cNvPr>
          <p:cNvSpPr txBox="1"/>
          <p:nvPr/>
        </p:nvSpPr>
        <p:spPr>
          <a:xfrm>
            <a:off x="951702" y="3332162"/>
            <a:ext cx="48587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Review: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stability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Support journeys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Personalized offers for female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Opportunity to design gender-sensitive engagement </a:t>
            </a:r>
          </a:p>
          <a:p>
            <a:r>
              <a:rPr lang="en-US" sz="1600" dirty="0"/>
              <a:t>      strategies </a:t>
            </a:r>
          </a:p>
        </p:txBody>
      </p:sp>
    </p:spTree>
    <p:extLst>
      <p:ext uri="{BB962C8B-B14F-4D97-AF65-F5344CB8AC3E}">
        <p14:creationId xmlns:p14="http://schemas.microsoft.com/office/powerpoint/2010/main" val="56375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9534-8F36-1CDE-F18F-3AF8AE13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Churn Overview across countries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01C628-65BC-CEA6-43DB-4D395D80E0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4610743" cy="10890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F7A7C-B1CC-4799-4AA7-12A0AB41F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Meaning: </a:t>
            </a:r>
          </a:p>
          <a:p>
            <a:r>
              <a:rPr lang="en-US" sz="1600" dirty="0"/>
              <a:t>Germany is  a main churn hotspot </a:t>
            </a:r>
          </a:p>
          <a:p>
            <a:r>
              <a:rPr lang="en-US" sz="1600" dirty="0"/>
              <a:t>Nearly  1 in 3 German customer leaves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Importance :</a:t>
            </a:r>
          </a:p>
          <a:p>
            <a:r>
              <a:rPr lang="en-US" sz="1600" dirty="0"/>
              <a:t>Suggests regional operational or competitive issues, such as :</a:t>
            </a:r>
          </a:p>
          <a:p>
            <a:pPr lvl="1"/>
            <a:r>
              <a:rPr lang="en-US" sz="1600" dirty="0"/>
              <a:t>Stronger competitors </a:t>
            </a:r>
          </a:p>
          <a:p>
            <a:pPr lvl="1"/>
            <a:r>
              <a:rPr lang="en-US" sz="1600" dirty="0"/>
              <a:t>Poor local service delivery</a:t>
            </a:r>
          </a:p>
          <a:p>
            <a:pPr lvl="1"/>
            <a:r>
              <a:rPr lang="en-US" sz="1600" dirty="0"/>
              <a:t>Pricing or regulatory challenges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EA2CC-4C18-C487-6080-FE718812D4E8}"/>
              </a:ext>
            </a:extLst>
          </p:cNvPr>
          <p:cNvSpPr txBox="1"/>
          <p:nvPr/>
        </p:nvSpPr>
        <p:spPr>
          <a:xfrm>
            <a:off x="838200" y="3429000"/>
            <a:ext cx="415556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Conduct region-specific root cause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Localize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Pricing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Germany should be prioritized for retention </a:t>
            </a:r>
          </a:p>
          <a:p>
            <a:r>
              <a:rPr lang="en-US" sz="1600" dirty="0"/>
              <a:t>       investment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0001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652E-DC87-5631-C964-0B6C3C57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Overall Churn Overview by Customer Activity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FA6796-1F56-E3CA-61C1-7C6D311777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94" y="1825625"/>
            <a:ext cx="4020111" cy="9747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D015D-7655-823D-3245-26086B71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089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 :</a:t>
            </a:r>
          </a:p>
          <a:p>
            <a:r>
              <a:rPr lang="en-US" sz="1600" dirty="0"/>
              <a:t>Inactive customers churn at almost double the rate of active customers </a:t>
            </a:r>
          </a:p>
          <a:p>
            <a:r>
              <a:rPr lang="en-US" sz="1600" dirty="0"/>
              <a:t>Engagement is a leading indicator of churn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Importance :</a:t>
            </a:r>
          </a:p>
          <a:p>
            <a:r>
              <a:rPr lang="en-US" sz="1600" dirty="0"/>
              <a:t>Confirms that engagement drives retention </a:t>
            </a:r>
          </a:p>
          <a:p>
            <a:r>
              <a:rPr lang="en-US" sz="1600" dirty="0"/>
              <a:t>Activity status can be used as an early warning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48DB-7A47-4C00-C315-0C5C69989970}"/>
              </a:ext>
            </a:extLst>
          </p:cNvPr>
          <p:cNvSpPr txBox="1"/>
          <p:nvPr/>
        </p:nvSpPr>
        <p:spPr>
          <a:xfrm>
            <a:off x="1285594" y="3429000"/>
            <a:ext cx="42394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Trigger: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Re-engagement campaigns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Nudges, alerts, offers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inactivity as a predictive churn flag, not a</a:t>
            </a:r>
          </a:p>
          <a:p>
            <a:r>
              <a:rPr lang="en-US" sz="1600" dirty="0"/>
              <a:t>       reactive metric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CA5C5-2596-000C-6096-58FD59FD079D}"/>
              </a:ext>
            </a:extLst>
          </p:cNvPr>
          <p:cNvSpPr txBox="1"/>
          <p:nvPr/>
        </p:nvSpPr>
        <p:spPr>
          <a:xfrm>
            <a:off x="1285594" y="5619750"/>
            <a:ext cx="105816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Executive  summary: </a:t>
            </a:r>
            <a:r>
              <a:rPr lang="en-US" sz="1600" dirty="0"/>
              <a:t>Our analysis reveals a 20.37% churn rate, primarily driven by inactive customers, female segments, and </a:t>
            </a:r>
          </a:p>
          <a:p>
            <a:r>
              <a:rPr lang="en-US" sz="1600" dirty="0"/>
              <a:t>the German market – highlighting clear, actionable opportunities for targeted retention strategies.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4395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0E20-A010-E999-B808-8F7210B8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Geography-Based Behavior Analysis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03CC78-EE93-37C7-E550-F9C11FD2CA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13" y="1825624"/>
            <a:ext cx="3323170" cy="106388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9C26B-A0E5-3A9F-B17E-D2728E4A6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Meaning:</a:t>
            </a:r>
          </a:p>
          <a:p>
            <a:r>
              <a:rPr lang="en-IN" sz="1600" dirty="0"/>
              <a:t>Germany holds almost 2 times the average balance of France and Spain</a:t>
            </a:r>
          </a:p>
          <a:p>
            <a:r>
              <a:rPr lang="en-IN" sz="1600" dirty="0"/>
              <a:t>This means:</a:t>
            </a:r>
          </a:p>
          <a:p>
            <a:pPr lvl="1"/>
            <a:r>
              <a:rPr lang="en-IN" sz="1600" dirty="0"/>
              <a:t>Higher revenue per customer</a:t>
            </a:r>
          </a:p>
          <a:p>
            <a:pPr lvl="1"/>
            <a:r>
              <a:rPr lang="en-IN" sz="1600" dirty="0"/>
              <a:t>Higher revenue at risk if churn happens </a:t>
            </a:r>
          </a:p>
          <a:p>
            <a:r>
              <a:rPr lang="en-IN" sz="1600" dirty="0"/>
              <a:t>German customers represent the bank’s highest monetary value segment, making churn in this region disproportionately expensive</a:t>
            </a:r>
          </a:p>
          <a:p>
            <a:pPr marL="0" indent="0">
              <a:buNone/>
            </a:pPr>
            <a:r>
              <a:rPr lang="en-IN" sz="1600" b="1" dirty="0"/>
              <a:t>Business Actions:</a:t>
            </a:r>
          </a:p>
          <a:p>
            <a:r>
              <a:rPr lang="en-IN" sz="1600" dirty="0"/>
              <a:t>Prioritize retention-first strategy  for German customers</a:t>
            </a:r>
          </a:p>
          <a:p>
            <a:r>
              <a:rPr lang="en-IN" sz="1600" dirty="0"/>
              <a:t>Assign:</a:t>
            </a:r>
          </a:p>
          <a:p>
            <a:pPr lvl="1"/>
            <a:r>
              <a:rPr lang="en-IN" sz="1600" dirty="0"/>
              <a:t>Dedicated relationship managers </a:t>
            </a:r>
          </a:p>
          <a:p>
            <a:pPr lvl="1"/>
            <a:r>
              <a:rPr lang="en-IN" sz="1600" dirty="0"/>
              <a:t>Premium loyalty benefits </a:t>
            </a:r>
          </a:p>
        </p:txBody>
      </p:sp>
    </p:spTree>
    <p:extLst>
      <p:ext uri="{BB962C8B-B14F-4D97-AF65-F5344CB8AC3E}">
        <p14:creationId xmlns:p14="http://schemas.microsoft.com/office/powerpoint/2010/main" val="186139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B4-B7EE-A8F9-EA64-7AA344A5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Credit Score Comparison-Risk Quality Signal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B3121B-A471-EC03-D998-1F5E3AD3C6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3131894" cy="119189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71895-7A51-59E2-8B19-6685EEA9A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49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Credit scores are fairly similar across countries </a:t>
            </a:r>
          </a:p>
          <a:p>
            <a:r>
              <a:rPr lang="en-US" sz="1600" dirty="0"/>
              <a:t>This tells us:</a:t>
            </a:r>
          </a:p>
          <a:p>
            <a:pPr lvl="1"/>
            <a:r>
              <a:rPr lang="en-US" sz="1600" dirty="0"/>
              <a:t>Churn differences are not driven by credit quality </a:t>
            </a:r>
          </a:p>
          <a:p>
            <a:pPr lvl="1"/>
            <a:r>
              <a:rPr lang="en-US" sz="1600" dirty="0"/>
              <a:t>Behavior and engagement matter more than financial risk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b="1" dirty="0"/>
              <a:t>Key Insight : </a:t>
            </a:r>
          </a:p>
          <a:p>
            <a:r>
              <a:rPr lang="en-US" sz="1600" dirty="0"/>
              <a:t>Churn variation across countries is behavior-driven not credit-driven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4EF53-E428-BA65-E415-12C4FE983734}"/>
              </a:ext>
            </a:extLst>
          </p:cNvPr>
          <p:cNvSpPr txBox="1"/>
          <p:nvPr/>
        </p:nvSpPr>
        <p:spPr>
          <a:xfrm>
            <a:off x="838200" y="3840481"/>
            <a:ext cx="44748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 not over-tighten credit policies country wise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Focus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Engagement programs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simulation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94565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74F1-3046-5E05-0D09-7B1231EB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Product Holding Patterns – Cross Sell Opportunity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6B2669-6DF4-E8E4-04AF-84797B5838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4" y="1825625"/>
            <a:ext cx="3313554" cy="115561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791E6-A119-397F-5438-6410D95CD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15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Distribution Insight:</a:t>
            </a:r>
          </a:p>
          <a:p>
            <a:pPr marL="0" indent="0">
              <a:buNone/>
            </a:pPr>
            <a:r>
              <a:rPr lang="en-US" sz="1600" dirty="0"/>
              <a:t>Across all countries :</a:t>
            </a:r>
          </a:p>
          <a:p>
            <a:pPr lvl="1"/>
            <a:r>
              <a:rPr lang="en-US" sz="1600" dirty="0"/>
              <a:t>Majority customers hold only 1 product</a:t>
            </a:r>
          </a:p>
          <a:p>
            <a:pPr lvl="1"/>
            <a:r>
              <a:rPr lang="en-US" sz="1600" dirty="0"/>
              <a:t>Very few customers have 3-4 products </a:t>
            </a:r>
          </a:p>
          <a:p>
            <a:pPr marL="0" indent="0">
              <a:buNone/>
            </a:pPr>
            <a:r>
              <a:rPr lang="en-US" sz="1600" b="1" dirty="0"/>
              <a:t>Business Importance:</a:t>
            </a:r>
          </a:p>
          <a:p>
            <a:r>
              <a:rPr lang="en-US" sz="1600" dirty="0"/>
              <a:t>Low product penetration = low switching cost</a:t>
            </a:r>
          </a:p>
          <a:p>
            <a:r>
              <a:rPr lang="en-US" sz="1600" dirty="0"/>
              <a:t>Customers with 1 product can switch easily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Key Insight:</a:t>
            </a:r>
          </a:p>
          <a:p>
            <a:pPr marL="0" indent="0">
              <a:buNone/>
            </a:pPr>
            <a:r>
              <a:rPr lang="en-US" sz="1600" dirty="0"/>
              <a:t>Despite high balances, customers are under-penetrated on products – creating a churn vulnerability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83C52-5FC2-48C1-7D8B-7DF22D8A6085}"/>
              </a:ext>
            </a:extLst>
          </p:cNvPr>
          <p:cNvSpPr txBox="1"/>
          <p:nvPr/>
        </p:nvSpPr>
        <p:spPr>
          <a:xfrm>
            <a:off x="1093854" y="3867912"/>
            <a:ext cx="44541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Launch country specific cross-sell campaigns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Germany – wealth &amp; investment products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France – bundled banking packages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Spain – entry level add-on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KPI to track: Products per customer </a:t>
            </a:r>
          </a:p>
        </p:txBody>
      </p:sp>
    </p:spTree>
    <p:extLst>
      <p:ext uri="{BB962C8B-B14F-4D97-AF65-F5344CB8AC3E}">
        <p14:creationId xmlns:p14="http://schemas.microsoft.com/office/powerpoint/2010/main" val="647205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BAA4-E31D-9436-55A0-57669E1A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Activity Rate per Geography – Engagement Health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30CA59-D3ED-31EC-9405-3F7BCEDAE3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41" y="1825625"/>
            <a:ext cx="4763165" cy="107302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84E64-AB80-F814-DD77-8B9D585E7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020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 :</a:t>
            </a:r>
          </a:p>
          <a:p>
            <a:r>
              <a:rPr lang="en-US" sz="1600" dirty="0"/>
              <a:t>Germany: </a:t>
            </a:r>
          </a:p>
          <a:p>
            <a:pPr lvl="1"/>
            <a:r>
              <a:rPr lang="en-US" sz="1600" dirty="0"/>
              <a:t>Highest Balance </a:t>
            </a:r>
          </a:p>
          <a:p>
            <a:pPr lvl="1"/>
            <a:r>
              <a:rPr lang="en-US" sz="1600" dirty="0"/>
              <a:t>Lowest Activity </a:t>
            </a:r>
          </a:p>
          <a:p>
            <a:r>
              <a:rPr lang="en-US" sz="1600" dirty="0"/>
              <a:t>This is a dangerous combination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Key Insight :</a:t>
            </a:r>
          </a:p>
          <a:p>
            <a:pPr marL="0" indent="0">
              <a:buNone/>
            </a:pPr>
            <a:r>
              <a:rPr lang="en-US" sz="1600" dirty="0"/>
              <a:t>German customers are high-value but disengaged – the most critical churn risk group 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7500E-7F63-91D1-9084-D3441565E15E}"/>
              </a:ext>
            </a:extLst>
          </p:cNvPr>
          <p:cNvSpPr txBox="1"/>
          <p:nvPr/>
        </p:nvSpPr>
        <p:spPr>
          <a:xfrm>
            <a:off x="838200" y="3877056"/>
            <a:ext cx="40555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Immediate engagement push for Germany: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Personalized nudges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App usage incentives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Proactive relationship outreach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Treat inactivity as a leading churn indicator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26982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5B2DE3-06DC-DC41-6482-882E6F45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Combined Country Risk Profiles 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2264E-F890-BE8D-7CF9-8EC7228E7DB7}"/>
              </a:ext>
            </a:extLst>
          </p:cNvPr>
          <p:cNvSpPr txBox="1"/>
          <p:nvPr/>
        </p:nvSpPr>
        <p:spPr>
          <a:xfrm>
            <a:off x="768096" y="2203704"/>
            <a:ext cx="29411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Germany – High Value High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Balance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Lowest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Churn Impact </a:t>
            </a:r>
          </a:p>
          <a:p>
            <a:endParaRPr lang="en-US" sz="1600" dirty="0"/>
          </a:p>
          <a:p>
            <a:r>
              <a:rPr lang="en-US" sz="1600" b="1" dirty="0"/>
              <a:t>Strategy: </a:t>
            </a:r>
            <a:r>
              <a:rPr lang="en-US" sz="1600" dirty="0"/>
              <a:t>Retain at all costs </a:t>
            </a:r>
            <a:endParaRPr lang="en-IN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3987E-0AFD-0FCF-98A9-FA2507A66306}"/>
              </a:ext>
            </a:extLst>
          </p:cNvPr>
          <p:cNvSpPr txBox="1"/>
          <p:nvPr/>
        </p:nvSpPr>
        <p:spPr>
          <a:xfrm>
            <a:off x="4204249" y="2203704"/>
            <a:ext cx="33200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France – Stable but Under-Leveraged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Customer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Moderate balance &amp; activity </a:t>
            </a:r>
          </a:p>
          <a:p>
            <a:endParaRPr lang="en-US" sz="1600" dirty="0"/>
          </a:p>
          <a:p>
            <a:r>
              <a:rPr lang="en-US" sz="1600" b="1" dirty="0"/>
              <a:t>Strategy: </a:t>
            </a:r>
            <a:r>
              <a:rPr lang="en-US" sz="1600" dirty="0"/>
              <a:t>Scale cross-sell and &amp; </a:t>
            </a:r>
          </a:p>
          <a:p>
            <a:r>
              <a:rPr lang="en-US" sz="1600" dirty="0"/>
              <a:t>loyalty programs </a:t>
            </a:r>
            <a:endParaRPr lang="en-IN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873E1-7EB3-C3C8-A75A-1558BAF8AB24}"/>
              </a:ext>
            </a:extLst>
          </p:cNvPr>
          <p:cNvSpPr txBox="1"/>
          <p:nvPr/>
        </p:nvSpPr>
        <p:spPr>
          <a:xfrm>
            <a:off x="8019288" y="2121408"/>
            <a:ext cx="32636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Spain – Engaged but Low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Balance</a:t>
            </a:r>
          </a:p>
          <a:p>
            <a:endParaRPr lang="en-US" sz="1600" dirty="0"/>
          </a:p>
          <a:p>
            <a:r>
              <a:rPr lang="en-US" sz="1600" b="1" dirty="0"/>
              <a:t>Strategy: </a:t>
            </a:r>
            <a:r>
              <a:rPr lang="en-US" sz="1600" dirty="0"/>
              <a:t>Upsell Value, not retention </a:t>
            </a:r>
          </a:p>
          <a:p>
            <a:r>
              <a:rPr lang="en-US" sz="1600" dirty="0"/>
              <a:t>heavy spending 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13996-D69D-CC91-8FB3-A2145CC26E5C}"/>
              </a:ext>
            </a:extLst>
          </p:cNvPr>
          <p:cNvSpPr txBox="1"/>
          <p:nvPr/>
        </p:nvSpPr>
        <p:spPr>
          <a:xfrm>
            <a:off x="838200" y="4389120"/>
            <a:ext cx="104965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Executive Summary: </a:t>
            </a:r>
            <a:r>
              <a:rPr lang="en-US" sz="1600" dirty="0"/>
              <a:t>	Customer behavior varies significantly by geography. Germany represents the bank’s highest revenue</a:t>
            </a:r>
          </a:p>
          <a:p>
            <a:pPr lvl="4"/>
            <a:r>
              <a:rPr lang="en-US" sz="1600" dirty="0"/>
              <a:t>concentration but shows early churn warning signs due to low engagement. France offers scale and </a:t>
            </a:r>
          </a:p>
          <a:p>
            <a:pPr lvl="4"/>
            <a:r>
              <a:rPr lang="en-US" sz="1600" dirty="0"/>
              <a:t>cross-sell potential, while Spain shows strong engagement but lower monetary value. Country specific</a:t>
            </a:r>
          </a:p>
          <a:p>
            <a:pPr lvl="4"/>
            <a:r>
              <a:rPr lang="en-US" sz="1600" dirty="0"/>
              <a:t>strategies are essential to maximize revenue and retention. 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548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B535-F8A6-894F-07C1-6DD16681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Customer Segmentation &amp; Action Strategy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610CDC-81D7-4094-8EF9-EDCFFFFEFF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91" y="1825624"/>
            <a:ext cx="3688215" cy="72555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1AE68-ADC9-611A-1CB5-5531B4E839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</a:t>
            </a:r>
          </a:p>
          <a:p>
            <a:r>
              <a:rPr lang="en-US" sz="1600" dirty="0"/>
              <a:t>1499 customers are the most valuable and loyal customers with high balance, active engagement and not yet churned </a:t>
            </a:r>
          </a:p>
          <a:p>
            <a:r>
              <a:rPr lang="en-US" sz="1600" dirty="0"/>
              <a:t>They contribute disproportionately to revenue</a:t>
            </a:r>
          </a:p>
          <a:p>
            <a:r>
              <a:rPr lang="en-US" sz="1600" dirty="0"/>
              <a:t>Losing even a small % hurts profitability badly</a:t>
            </a:r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Business Action : </a:t>
            </a:r>
          </a:p>
          <a:p>
            <a:r>
              <a:rPr lang="en-IN" sz="1600" dirty="0"/>
              <a:t>Relationship management</a:t>
            </a:r>
          </a:p>
          <a:p>
            <a:r>
              <a:rPr lang="en-IN" sz="1600" dirty="0"/>
              <a:t>Personalized offer </a:t>
            </a:r>
          </a:p>
          <a:p>
            <a:r>
              <a:rPr lang="en-IN" sz="1600" dirty="0"/>
              <a:t>Priority support </a:t>
            </a:r>
          </a:p>
          <a:p>
            <a:r>
              <a:rPr lang="en-IN" sz="1600" dirty="0"/>
              <a:t>Wealth/ investment products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4337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C29D-37EF-98DC-408F-7CA6DA83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High Balance &amp; Inactive Churn Risks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129842-8D8F-8D29-E5B4-05EAA65E4E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525" y="1825624"/>
            <a:ext cx="3960435" cy="5792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CB269-D5CE-CE91-53CB-77AF855E4B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1797 customers posses high balance but no active engagement, adding to churn warning signal</a:t>
            </a:r>
          </a:p>
          <a:p>
            <a:r>
              <a:rPr lang="en-US" sz="1600" dirty="0"/>
              <a:t>This is revenue at immediate risk</a:t>
            </a:r>
          </a:p>
          <a:p>
            <a:r>
              <a:rPr lang="en-US" sz="1600" dirty="0"/>
              <a:t>Most dangerous churn segment 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Business Actions: </a:t>
            </a:r>
          </a:p>
          <a:p>
            <a:r>
              <a:rPr lang="en-US" sz="1600" dirty="0"/>
              <a:t> Immediate intervention</a:t>
            </a:r>
          </a:p>
          <a:p>
            <a:r>
              <a:rPr lang="en-US" sz="1600" dirty="0"/>
              <a:t>Re-engagement campaigns </a:t>
            </a:r>
          </a:p>
          <a:p>
            <a:r>
              <a:rPr lang="en-US" sz="1600" dirty="0"/>
              <a:t>Relationship manager calls </a:t>
            </a:r>
          </a:p>
          <a:p>
            <a:r>
              <a:rPr lang="en-US" sz="1600" dirty="0"/>
              <a:t>Fee waivers / loyalty benefits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15379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3E17-C53E-7E84-B62B-CFACD73E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Low Balance – High Churn Customers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692751-D899-F33D-6359-14C5785AAE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28" y="1825624"/>
            <a:ext cx="3494475" cy="60667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C90E8-2631-D1DE-9695-0EBEA4AA2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IN" sz="1600" dirty="0"/>
              <a:t>4081 customers mean a large customer base but with low individual balance and indicating moderate churn rate </a:t>
            </a:r>
          </a:p>
          <a:p>
            <a:r>
              <a:rPr lang="en-IN" sz="1600" dirty="0"/>
              <a:t>This is a volume problem, not revenue problem</a:t>
            </a:r>
          </a:p>
          <a:p>
            <a:r>
              <a:rPr lang="en-IN" sz="1600" dirty="0"/>
              <a:t>Losing many customers impacts:</a:t>
            </a:r>
          </a:p>
          <a:p>
            <a:pPr lvl="1"/>
            <a:r>
              <a:rPr lang="en-IN" sz="1600" dirty="0"/>
              <a:t>Brand perception</a:t>
            </a:r>
          </a:p>
          <a:p>
            <a:pPr lvl="1"/>
            <a:r>
              <a:rPr lang="en-IN" sz="1600" dirty="0"/>
              <a:t>Market share </a:t>
            </a:r>
          </a:p>
          <a:p>
            <a:pPr lvl="1"/>
            <a:r>
              <a:rPr lang="en-IN" sz="1600" dirty="0"/>
              <a:t>Acquisition cost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07450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BB56-80A0-26C2-8602-53998C11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Multi Product Retained Customers 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E887AC-9499-DD5D-DC02-3A1225AB27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22" y="1825625"/>
            <a:ext cx="3858163" cy="67636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EF146-FCEE-6D8C-CC93-741753558A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US" sz="1600" dirty="0"/>
              <a:t>The customer base for multi products is very small</a:t>
            </a:r>
          </a:p>
          <a:p>
            <a:r>
              <a:rPr lang="en-US" sz="1600" dirty="0"/>
              <a:t>High product count should reduce churn, but here it isn’t possibly: </a:t>
            </a:r>
          </a:p>
          <a:p>
            <a:pPr lvl="1"/>
            <a:r>
              <a:rPr lang="en-US" sz="1600" dirty="0"/>
              <a:t>Forced cross-selling</a:t>
            </a:r>
          </a:p>
          <a:p>
            <a:pPr lvl="1"/>
            <a:r>
              <a:rPr lang="en-US" sz="1600" dirty="0"/>
              <a:t>Wrong product fit </a:t>
            </a:r>
          </a:p>
          <a:p>
            <a:pPr lvl="1"/>
            <a:r>
              <a:rPr lang="en-US" sz="1600" dirty="0"/>
              <a:t>Poor onboarding </a:t>
            </a:r>
          </a:p>
          <a:p>
            <a:r>
              <a:rPr lang="en-US" sz="1600" dirty="0"/>
              <a:t>Signals product strategy or experience issue </a:t>
            </a:r>
          </a:p>
          <a:p>
            <a:pPr marL="0" indent="0">
              <a:buNone/>
            </a:pPr>
            <a:r>
              <a:rPr lang="en-US" sz="1600" b="1" dirty="0"/>
              <a:t>Business Action:</a:t>
            </a:r>
          </a:p>
          <a:p>
            <a:r>
              <a:rPr lang="en-US" sz="1600" dirty="0"/>
              <a:t>Check product usability </a:t>
            </a:r>
          </a:p>
          <a:p>
            <a:r>
              <a:rPr lang="en-US" sz="1600" dirty="0"/>
              <a:t>Review cross-sell timing</a:t>
            </a:r>
          </a:p>
          <a:p>
            <a:r>
              <a:rPr lang="en-US" sz="1600" dirty="0"/>
              <a:t>Improve onboarding &amp; education </a:t>
            </a:r>
          </a:p>
          <a:p>
            <a:r>
              <a:rPr lang="en-US" sz="1600" dirty="0"/>
              <a:t>Fix product mismatch, not push more products </a:t>
            </a:r>
          </a:p>
        </p:txBody>
      </p:sp>
    </p:spTree>
    <p:extLst>
      <p:ext uri="{BB962C8B-B14F-4D97-AF65-F5344CB8AC3E}">
        <p14:creationId xmlns:p14="http://schemas.microsoft.com/office/powerpoint/2010/main" val="4002501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0336D-8879-AA21-BD1B-98F2C071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Churn Risk Scoring – Predictive Analysis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2CDF9B-4B71-0661-5293-63F30C2537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44" y="1690688"/>
            <a:ext cx="3696216" cy="16033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118B7-7890-75DD-E702-25C15FD5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90688"/>
            <a:ext cx="5181600" cy="39603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Business Importance: </a:t>
            </a:r>
          </a:p>
          <a:p>
            <a:r>
              <a:rPr lang="en-IN" sz="1600" dirty="0"/>
              <a:t>Each customer is assigned a risk score based on 5 critical dimensions such as age, balance, credit score, activity, products </a:t>
            </a:r>
          </a:p>
          <a:p>
            <a:r>
              <a:rPr lang="en-IN" sz="1600" dirty="0"/>
              <a:t>Each factor is weighted and the scores are summed to form a total risk score </a:t>
            </a:r>
          </a:p>
          <a:p>
            <a:r>
              <a:rPr lang="en-IN" sz="1600" dirty="0"/>
              <a:t>This model helps in:</a:t>
            </a:r>
          </a:p>
          <a:p>
            <a:pPr lvl="1"/>
            <a:r>
              <a:rPr lang="en-IN" sz="1600" dirty="0"/>
              <a:t>Identifies churn before it happens </a:t>
            </a:r>
          </a:p>
          <a:p>
            <a:pPr lvl="1"/>
            <a:r>
              <a:rPr lang="en-IN" sz="1600" dirty="0"/>
              <a:t>Allows proactive retention</a:t>
            </a:r>
          </a:p>
          <a:p>
            <a:pPr lvl="1"/>
            <a:r>
              <a:rPr lang="en-IN" sz="1600" dirty="0"/>
              <a:t>Retention is focused on high – risk customers </a:t>
            </a:r>
          </a:p>
          <a:p>
            <a:pPr lvl="1"/>
            <a:r>
              <a:rPr lang="en-IN" sz="1600" dirty="0"/>
              <a:t>Avoids incentive loss on low value customers </a:t>
            </a:r>
          </a:p>
          <a:p>
            <a:pPr lvl="1"/>
            <a:r>
              <a:rPr lang="en-IN" sz="1600" dirty="0"/>
              <a:t>Prevents high value customer loss</a:t>
            </a:r>
          </a:p>
          <a:p>
            <a:pPr lvl="1"/>
            <a:r>
              <a:rPr lang="en-IN" sz="1600" dirty="0"/>
              <a:t>Reduce surprise churn risks </a:t>
            </a:r>
          </a:p>
          <a:p>
            <a:pPr lvl="1"/>
            <a:r>
              <a:rPr lang="en-IN" sz="1600" dirty="0"/>
              <a:t>Can be directly handed to CRM / marketing teams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177F9-1CF5-D97D-A5B0-5C866A5E283B}"/>
              </a:ext>
            </a:extLst>
          </p:cNvPr>
          <p:cNvSpPr txBox="1"/>
          <p:nvPr/>
        </p:nvSpPr>
        <p:spPr>
          <a:xfrm>
            <a:off x="739644" y="3575304"/>
            <a:ext cx="51507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Business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Score &gt; 12 : Fee Waivers, personalized offers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Score 8-11: Targeted campaigns, product education,</a:t>
            </a:r>
            <a:endParaRPr lang="en-IN" sz="1600" dirty="0"/>
          </a:p>
          <a:p>
            <a:r>
              <a:rPr lang="en-IN" sz="1600" dirty="0"/>
              <a:t>                            loyalty rewards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Score &lt; 8 : Upsell Opportunities, no aggressive retention</a:t>
            </a:r>
          </a:p>
          <a:p>
            <a:r>
              <a:rPr lang="en-IN" sz="1600" dirty="0"/>
              <a:t>                          spend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A78FD-C2E1-C572-CC80-F4CB1D458B53}"/>
              </a:ext>
            </a:extLst>
          </p:cNvPr>
          <p:cNvSpPr txBox="1"/>
          <p:nvPr/>
        </p:nvSpPr>
        <p:spPr>
          <a:xfrm>
            <a:off x="739644" y="5650992"/>
            <a:ext cx="10814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Executive Summary: </a:t>
            </a:r>
            <a:r>
              <a:rPr lang="en-US" sz="1600" dirty="0"/>
              <a:t>This churn risk scoring model allows the bank to proactively identify high-risk customers and take targeted </a:t>
            </a:r>
          </a:p>
          <a:p>
            <a:r>
              <a:rPr lang="en-US" sz="1600" b="1" dirty="0"/>
              <a:t>                                       </a:t>
            </a:r>
            <a:r>
              <a:rPr lang="en-US" sz="1600" dirty="0"/>
              <a:t>retention actions before revenue loss occurs 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923603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A733-6A3B-27C4-EB5E-2B59E752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Actions for Next Quarter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6849-7573-1D90-4359-E60F5CA20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Retention first strategy for Germn Customers 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Immediate re-engagement for inactive high-balance customers 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Cross-sell push for single product customers 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Gender-focused experience audit 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Deploy churn risk scoring in CRM 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934611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0243-08EA-90AF-7B8B-5C063F3D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Business Questions Answered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2F3D-62FD-4421-3B65-1FC54CDA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52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What attributes are more common among churners than non-churners?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600" dirty="0"/>
              <a:t>Age, low product count, inactivity, geography, balance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Can churn be predicted using the variables?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600" dirty="0"/>
              <a:t>Yes — via SQL risk scoring and ML-ready feature sets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What do the overall demographics look like?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600" dirty="0"/>
              <a:t>Age, gender, geography, financial distribution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Is there a difference between German, French, and Spanish customers?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600" dirty="0"/>
              <a:t>Yes — churn, balance, and engagement vary significantly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What types of customer segments exist?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IN" sz="1600" dirty="0"/>
              <a:t>Value-based, lifecycle-based, </a:t>
            </a:r>
            <a:r>
              <a:rPr lang="en-IN" sz="1600" dirty="0" err="1"/>
              <a:t>behavior</a:t>
            </a:r>
            <a:r>
              <a:rPr lang="en-IN" sz="1600" dirty="0"/>
              <a:t>-based segments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87636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2BFF-79D0-18A8-0292-85363876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61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1940</Words>
  <Application>Microsoft Office PowerPoint</Application>
  <PresentationFormat>Widescreen</PresentationFormat>
  <Paragraphs>364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Customer Retention &amp; Churn Risk Analysis For a Retail European Bank</vt:lpstr>
      <vt:lpstr>Business Problems</vt:lpstr>
      <vt:lpstr>Dataset Overview and Data Preparation </vt:lpstr>
      <vt:lpstr>Overall Customer Demographics Based on Gender</vt:lpstr>
      <vt:lpstr>Overall Customer Demographics Across Countries </vt:lpstr>
      <vt:lpstr>Overall Customer Demographics based on Avg-Age</vt:lpstr>
      <vt:lpstr>Overall Customer Demographics across different age bands </vt:lpstr>
      <vt:lpstr>Overall Customer Demographics based on product distribution</vt:lpstr>
      <vt:lpstr>Overall Customer Demographics based on Balance</vt:lpstr>
      <vt:lpstr>Overall Customer Demographics based on Credit Score </vt:lpstr>
      <vt:lpstr>Overall Churn Overview  </vt:lpstr>
      <vt:lpstr>Churn vs Non-Churned </vt:lpstr>
      <vt:lpstr>Overall Churn Overview based on Gender</vt:lpstr>
      <vt:lpstr>Overall Churn Overview across countries </vt:lpstr>
      <vt:lpstr>Overall Churn Overview by Customer Activity</vt:lpstr>
      <vt:lpstr>Geography-Based Behavior Analysis </vt:lpstr>
      <vt:lpstr>Credit Score Comparison-Risk Quality Signal</vt:lpstr>
      <vt:lpstr>Product Holding Patterns – Cross Sell Opportunity</vt:lpstr>
      <vt:lpstr>Activity Rate per Geography – Engagement Health</vt:lpstr>
      <vt:lpstr>Combined Country Risk Profiles </vt:lpstr>
      <vt:lpstr>Customer Segmentation &amp; Action Strategy</vt:lpstr>
      <vt:lpstr>High Balance &amp; Inactive Churn Risks</vt:lpstr>
      <vt:lpstr>Low Balance – High Churn Customers </vt:lpstr>
      <vt:lpstr>Multi Product Retained Customers </vt:lpstr>
      <vt:lpstr>Churn Risk Scoring – Predictive Analysis</vt:lpstr>
      <vt:lpstr>Final Actions for Next Quarter </vt:lpstr>
      <vt:lpstr>Final Business Questions Answered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Dipro Singha Roy</dc:creator>
  <cp:lastModifiedBy>Dipro Singha Roy</cp:lastModifiedBy>
  <cp:revision>5</cp:revision>
  <dcterms:created xsi:type="dcterms:W3CDTF">2026-01-03T17:04:07Z</dcterms:created>
  <dcterms:modified xsi:type="dcterms:W3CDTF">2026-01-06T07:40:44Z</dcterms:modified>
</cp:coreProperties>
</file>